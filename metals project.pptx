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72503C-ED77-4390-4AC2-E2A463C15641}" v="1" dt="2026-06-24T04:46:35.3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95D570-2CF2-4E1C-91FF-6CD5A359544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D64A1A0-5292-4BD2-B9F5-F14EE5457B06}">
      <dgm:prSet/>
      <dgm:spPr/>
      <dgm:t>
        <a:bodyPr/>
        <a:lstStyle/>
        <a:p>
          <a:r>
            <a:rPr lang="en-US"/>
            <a:t>The </a:t>
          </a:r>
          <a:r>
            <a:rPr lang="en-US" b="1"/>
            <a:t>Coefficient of Variation (CV)</a:t>
          </a:r>
          <a:r>
            <a:rPr lang="en-US"/>
            <a:t> is a statistical measure of </a:t>
          </a:r>
          <a:r>
            <a:rPr lang="en-US" b="1"/>
            <a:t>relative variability</a:t>
          </a:r>
          <a:r>
            <a:rPr lang="en-US"/>
            <a:t>. It shows how large the standard deviation is compared to the mean of a dataset.</a:t>
          </a:r>
        </a:p>
      </dgm:t>
    </dgm:pt>
    <dgm:pt modelId="{CF0836DE-F075-442E-AB9D-ECA4501144FF}" type="parTrans" cxnId="{A67B42D7-861F-4D2D-8D32-5D5798DED30F}">
      <dgm:prSet/>
      <dgm:spPr/>
      <dgm:t>
        <a:bodyPr/>
        <a:lstStyle/>
        <a:p>
          <a:endParaRPr lang="en-US"/>
        </a:p>
      </dgm:t>
    </dgm:pt>
    <dgm:pt modelId="{FCDF7B35-9DE3-4602-B215-2F3B2805EB06}" type="sibTrans" cxnId="{A67B42D7-861F-4D2D-8D32-5D5798DED30F}">
      <dgm:prSet/>
      <dgm:spPr/>
      <dgm:t>
        <a:bodyPr/>
        <a:lstStyle/>
        <a:p>
          <a:endParaRPr lang="en-US"/>
        </a:p>
      </dgm:t>
    </dgm:pt>
    <dgm:pt modelId="{131AAF27-118E-4426-B0EA-2017898AE683}">
      <dgm:prSet/>
      <dgm:spPr/>
      <dgm:t>
        <a:bodyPr/>
        <a:lstStyle/>
        <a:p>
          <a:r>
            <a:rPr lang="en-US"/>
            <a:t>📌 Formula</a:t>
          </a:r>
        </a:p>
      </dgm:t>
    </dgm:pt>
    <dgm:pt modelId="{93D5FF74-D72F-4FA7-B058-55AAD2AD8FBA}" type="parTrans" cxnId="{A3D47EE9-428C-42FD-BD64-B36A5629B0B1}">
      <dgm:prSet/>
      <dgm:spPr/>
      <dgm:t>
        <a:bodyPr/>
        <a:lstStyle/>
        <a:p>
          <a:endParaRPr lang="en-US"/>
        </a:p>
      </dgm:t>
    </dgm:pt>
    <dgm:pt modelId="{CF002633-5B5F-4216-87BF-081F7C8C5088}" type="sibTrans" cxnId="{A3D47EE9-428C-42FD-BD64-B36A5629B0B1}">
      <dgm:prSet/>
      <dgm:spPr/>
      <dgm:t>
        <a:bodyPr/>
        <a:lstStyle/>
        <a:p>
          <a:endParaRPr lang="en-US"/>
        </a:p>
      </dgm:t>
    </dgm:pt>
    <dgm:pt modelId="{959A8E06-D68D-459B-AC2F-205E53755890}">
      <dgm:prSet/>
      <dgm:spPr/>
      <dgm:t>
        <a:bodyPr/>
        <a:lstStyle/>
        <a:p>
          <a:r>
            <a:rPr lang="en-US"/>
            <a:t>CV=Standard Deviation/Mean</a:t>
          </a:r>
        </a:p>
      </dgm:t>
    </dgm:pt>
    <dgm:pt modelId="{6B8B60DE-3EF7-4298-ADC7-6EF583A89912}" type="parTrans" cxnId="{2800BF1A-95CF-42F2-AA83-EEDAE169134A}">
      <dgm:prSet/>
      <dgm:spPr/>
      <dgm:t>
        <a:bodyPr/>
        <a:lstStyle/>
        <a:p>
          <a:endParaRPr lang="en-US"/>
        </a:p>
      </dgm:t>
    </dgm:pt>
    <dgm:pt modelId="{7E73E5BF-C694-4C90-A642-308C390471F9}" type="sibTrans" cxnId="{2800BF1A-95CF-42F2-AA83-EEDAE169134A}">
      <dgm:prSet/>
      <dgm:spPr/>
      <dgm:t>
        <a:bodyPr/>
        <a:lstStyle/>
        <a:p>
          <a:endParaRPr lang="en-US"/>
        </a:p>
      </dgm:t>
    </dgm:pt>
    <dgm:pt modelId="{965F01F9-8C5E-4B64-95D6-7273A94E82DF}">
      <dgm:prSet/>
      <dgm:spPr/>
      <dgm:t>
        <a:bodyPr/>
        <a:lstStyle/>
        <a:p>
          <a:r>
            <a:rPr lang="en-US"/>
            <a:t>→ Lower CV means lower risk relative to return.</a:t>
          </a:r>
        </a:p>
      </dgm:t>
    </dgm:pt>
    <dgm:pt modelId="{09AAAB5E-50D0-40B7-86FD-FDFA09D5D8CF}" type="parTrans" cxnId="{87F5B0BB-50EF-4FF0-ADE6-048E7AD2C20B}">
      <dgm:prSet/>
      <dgm:spPr/>
      <dgm:t>
        <a:bodyPr/>
        <a:lstStyle/>
        <a:p>
          <a:endParaRPr lang="en-US"/>
        </a:p>
      </dgm:t>
    </dgm:pt>
    <dgm:pt modelId="{A8DCC4FD-59D7-4066-A635-7309D5006A48}" type="sibTrans" cxnId="{87F5B0BB-50EF-4FF0-ADE6-048E7AD2C20B}">
      <dgm:prSet/>
      <dgm:spPr/>
      <dgm:t>
        <a:bodyPr/>
        <a:lstStyle/>
        <a:p>
          <a:endParaRPr lang="en-US"/>
        </a:p>
      </dgm:t>
    </dgm:pt>
    <dgm:pt modelId="{4A8B89E1-E60C-490A-B1D6-56B27D04AA8B}">
      <dgm:prSet/>
      <dgm:spPr/>
      <dgm:t>
        <a:bodyPr/>
        <a:lstStyle/>
        <a:p>
          <a:r>
            <a:rPr lang="en-US"/>
            <a:t>❗ </a:t>
          </a:r>
          <a:r>
            <a:rPr lang="en-US" b="1"/>
            <a:t>High variability (less consistency)</a:t>
          </a:r>
          <a:endParaRPr lang="en-US"/>
        </a:p>
      </dgm:t>
    </dgm:pt>
    <dgm:pt modelId="{C0D4E5F1-666F-4E5F-BE53-BECE8664BE5F}" type="parTrans" cxnId="{19FB405C-2E80-4969-90B0-E63C174D4053}">
      <dgm:prSet/>
      <dgm:spPr/>
      <dgm:t>
        <a:bodyPr/>
        <a:lstStyle/>
        <a:p>
          <a:endParaRPr lang="en-US"/>
        </a:p>
      </dgm:t>
    </dgm:pt>
    <dgm:pt modelId="{D3A47517-E84D-45EE-A46F-7C1A438B2EA2}" type="sibTrans" cxnId="{19FB405C-2E80-4969-90B0-E63C174D4053}">
      <dgm:prSet/>
      <dgm:spPr/>
      <dgm:t>
        <a:bodyPr/>
        <a:lstStyle/>
        <a:p>
          <a:endParaRPr lang="en-US"/>
        </a:p>
      </dgm:t>
    </dgm:pt>
    <dgm:pt modelId="{07B304E1-6A14-41BF-80B5-FDB413C02E9C}">
      <dgm:prSet/>
      <dgm:spPr/>
      <dgm:t>
        <a:bodyPr/>
        <a:lstStyle/>
        <a:p>
          <a:r>
            <a:rPr lang="en-US"/>
            <a:t>The data values are </a:t>
          </a:r>
          <a:r>
            <a:rPr lang="en-US" b="1"/>
            <a:t>widely spread out</a:t>
          </a:r>
          <a:r>
            <a:rPr lang="en-US"/>
            <a:t> compared to the mean.</a:t>
          </a:r>
        </a:p>
      </dgm:t>
    </dgm:pt>
    <dgm:pt modelId="{558AEA5E-A926-4809-AB5B-D7D9D5BB2DE9}" type="parTrans" cxnId="{809A8434-37AD-429E-855B-4A9C3C5AD857}">
      <dgm:prSet/>
      <dgm:spPr/>
      <dgm:t>
        <a:bodyPr/>
        <a:lstStyle/>
        <a:p>
          <a:endParaRPr lang="en-US"/>
        </a:p>
      </dgm:t>
    </dgm:pt>
    <dgm:pt modelId="{D6B89DC4-FB3F-4FB9-BD1B-1121292F8BC3}" type="sibTrans" cxnId="{809A8434-37AD-429E-855B-4A9C3C5AD857}">
      <dgm:prSet/>
      <dgm:spPr/>
      <dgm:t>
        <a:bodyPr/>
        <a:lstStyle/>
        <a:p>
          <a:endParaRPr lang="en-US"/>
        </a:p>
      </dgm:t>
    </dgm:pt>
    <dgm:pt modelId="{74609D22-B88B-4905-986B-CF64454A61A0}">
      <dgm:prSet/>
      <dgm:spPr/>
      <dgm:t>
        <a:bodyPr/>
        <a:lstStyle/>
        <a:p>
          <a:r>
            <a:rPr lang="en-US"/>
            <a:t>In simple words:</a:t>
          </a:r>
        </a:p>
      </dgm:t>
    </dgm:pt>
    <dgm:pt modelId="{34419B8A-FF27-40AD-9974-6833D9902D5F}" type="parTrans" cxnId="{B58099E5-EB66-4789-8AD9-6629F39B7DDA}">
      <dgm:prSet/>
      <dgm:spPr/>
      <dgm:t>
        <a:bodyPr/>
        <a:lstStyle/>
        <a:p>
          <a:endParaRPr lang="en-US"/>
        </a:p>
      </dgm:t>
    </dgm:pt>
    <dgm:pt modelId="{7D0EA8B8-32EA-4F41-84F4-02131CEBBEE1}" type="sibTrans" cxnId="{B58099E5-EB66-4789-8AD9-6629F39B7DDA}">
      <dgm:prSet/>
      <dgm:spPr/>
      <dgm:t>
        <a:bodyPr/>
        <a:lstStyle/>
        <a:p>
          <a:endParaRPr lang="en-US"/>
        </a:p>
      </dgm:t>
    </dgm:pt>
    <dgm:pt modelId="{11BD9FFC-01E8-4E3E-9AD0-ED2FF3DB3D8C}">
      <dgm:prSet/>
      <dgm:spPr/>
      <dgm:t>
        <a:bodyPr/>
        <a:lstStyle/>
        <a:p>
          <a:r>
            <a:rPr lang="en-US" b="1"/>
            <a:t>High CV → More variation, more instability</a:t>
          </a:r>
          <a:endParaRPr lang="en-US"/>
        </a:p>
      </dgm:t>
    </dgm:pt>
    <dgm:pt modelId="{DADFE353-9DD5-4AD2-A28A-FB1AD86AAD74}" type="parTrans" cxnId="{1A993536-97A4-4772-8B58-AE1470BE42F2}">
      <dgm:prSet/>
      <dgm:spPr/>
      <dgm:t>
        <a:bodyPr/>
        <a:lstStyle/>
        <a:p>
          <a:endParaRPr lang="en-US"/>
        </a:p>
      </dgm:t>
    </dgm:pt>
    <dgm:pt modelId="{EBD42968-84D4-4611-AB31-48562832E5C7}" type="sibTrans" cxnId="{1A993536-97A4-4772-8B58-AE1470BE42F2}">
      <dgm:prSet/>
      <dgm:spPr/>
      <dgm:t>
        <a:bodyPr/>
        <a:lstStyle/>
        <a:p>
          <a:endParaRPr lang="en-US"/>
        </a:p>
      </dgm:t>
    </dgm:pt>
    <dgm:pt modelId="{9766D524-CB5E-428B-8932-7CDE64C2731A}">
      <dgm:prSet/>
      <dgm:spPr/>
      <dgm:t>
        <a:bodyPr/>
        <a:lstStyle/>
        <a:p>
          <a:r>
            <a:rPr lang="en-US" b="1"/>
            <a:t>Low CV → Less variation, more stability</a:t>
          </a:r>
          <a:endParaRPr lang="en-US"/>
        </a:p>
      </dgm:t>
    </dgm:pt>
    <dgm:pt modelId="{FBA183D4-26E9-4BCE-B019-8E3655B70223}" type="parTrans" cxnId="{277EBC62-A8CF-41CA-B97F-F9565085065C}">
      <dgm:prSet/>
      <dgm:spPr/>
      <dgm:t>
        <a:bodyPr/>
        <a:lstStyle/>
        <a:p>
          <a:endParaRPr lang="en-US"/>
        </a:p>
      </dgm:t>
    </dgm:pt>
    <dgm:pt modelId="{4C0ACD66-25C0-4C2F-BF4C-DF015DC2CF1A}" type="sibTrans" cxnId="{277EBC62-A8CF-41CA-B97F-F9565085065C}">
      <dgm:prSet/>
      <dgm:spPr/>
      <dgm:t>
        <a:bodyPr/>
        <a:lstStyle/>
        <a:p>
          <a:endParaRPr lang="en-US"/>
        </a:p>
      </dgm:t>
    </dgm:pt>
    <dgm:pt modelId="{611A0B13-2A4A-4E3E-97A1-3CAD92402663}" type="pres">
      <dgm:prSet presAssocID="{AC95D570-2CF2-4E1C-91FF-6CD5A3595442}" presName="linear" presStyleCnt="0">
        <dgm:presLayoutVars>
          <dgm:animLvl val="lvl"/>
          <dgm:resizeHandles val="exact"/>
        </dgm:presLayoutVars>
      </dgm:prSet>
      <dgm:spPr/>
    </dgm:pt>
    <dgm:pt modelId="{A45DED54-3252-44D0-9985-854E48173995}" type="pres">
      <dgm:prSet presAssocID="{6D64A1A0-5292-4BD2-B9F5-F14EE5457B06}" presName="parentText" presStyleLbl="node1" presStyleIdx="0" presStyleCnt="9">
        <dgm:presLayoutVars>
          <dgm:chMax val="0"/>
          <dgm:bulletEnabled val="1"/>
        </dgm:presLayoutVars>
      </dgm:prSet>
      <dgm:spPr/>
    </dgm:pt>
    <dgm:pt modelId="{46F6F08B-0ED8-4C82-908B-0889135F68D5}" type="pres">
      <dgm:prSet presAssocID="{FCDF7B35-9DE3-4602-B215-2F3B2805EB06}" presName="spacer" presStyleCnt="0"/>
      <dgm:spPr/>
    </dgm:pt>
    <dgm:pt modelId="{3F21A06B-8AF2-4813-9250-7C4A116DD4BD}" type="pres">
      <dgm:prSet presAssocID="{131AAF27-118E-4426-B0EA-2017898AE683}" presName="parentText" presStyleLbl="node1" presStyleIdx="1" presStyleCnt="9">
        <dgm:presLayoutVars>
          <dgm:chMax val="0"/>
          <dgm:bulletEnabled val="1"/>
        </dgm:presLayoutVars>
      </dgm:prSet>
      <dgm:spPr/>
    </dgm:pt>
    <dgm:pt modelId="{C8B9FDEC-E5A1-4A91-8D25-529FDC4EE066}" type="pres">
      <dgm:prSet presAssocID="{CF002633-5B5F-4216-87BF-081F7C8C5088}" presName="spacer" presStyleCnt="0"/>
      <dgm:spPr/>
    </dgm:pt>
    <dgm:pt modelId="{1C97E38C-D75F-4FC4-AF91-0A7A4E375629}" type="pres">
      <dgm:prSet presAssocID="{959A8E06-D68D-459B-AC2F-205E53755890}" presName="parentText" presStyleLbl="node1" presStyleIdx="2" presStyleCnt="9">
        <dgm:presLayoutVars>
          <dgm:chMax val="0"/>
          <dgm:bulletEnabled val="1"/>
        </dgm:presLayoutVars>
      </dgm:prSet>
      <dgm:spPr/>
    </dgm:pt>
    <dgm:pt modelId="{77EDE191-2064-47A5-9D5F-35069CD1D3FD}" type="pres">
      <dgm:prSet presAssocID="{7E73E5BF-C694-4C90-A642-308C390471F9}" presName="spacer" presStyleCnt="0"/>
      <dgm:spPr/>
    </dgm:pt>
    <dgm:pt modelId="{B13EB1CD-CEE1-418A-8B30-53BA6EB8A8A6}" type="pres">
      <dgm:prSet presAssocID="{965F01F9-8C5E-4B64-95D6-7273A94E82DF}" presName="parentText" presStyleLbl="node1" presStyleIdx="3" presStyleCnt="9">
        <dgm:presLayoutVars>
          <dgm:chMax val="0"/>
          <dgm:bulletEnabled val="1"/>
        </dgm:presLayoutVars>
      </dgm:prSet>
      <dgm:spPr/>
    </dgm:pt>
    <dgm:pt modelId="{09EDAF1C-C091-462D-AE74-76FB90CA339A}" type="pres">
      <dgm:prSet presAssocID="{A8DCC4FD-59D7-4066-A635-7309D5006A48}" presName="spacer" presStyleCnt="0"/>
      <dgm:spPr/>
    </dgm:pt>
    <dgm:pt modelId="{59CF31DB-0A77-4220-A752-6E9DD00D46C3}" type="pres">
      <dgm:prSet presAssocID="{4A8B89E1-E60C-490A-B1D6-56B27D04AA8B}" presName="parentText" presStyleLbl="node1" presStyleIdx="4" presStyleCnt="9">
        <dgm:presLayoutVars>
          <dgm:chMax val="0"/>
          <dgm:bulletEnabled val="1"/>
        </dgm:presLayoutVars>
      </dgm:prSet>
      <dgm:spPr/>
    </dgm:pt>
    <dgm:pt modelId="{C6D8794F-6D02-4E39-95A9-367E6DC2D459}" type="pres">
      <dgm:prSet presAssocID="{D3A47517-E84D-45EE-A46F-7C1A438B2EA2}" presName="spacer" presStyleCnt="0"/>
      <dgm:spPr/>
    </dgm:pt>
    <dgm:pt modelId="{1D7A9860-5A12-4D10-9598-F40D776F9C56}" type="pres">
      <dgm:prSet presAssocID="{07B304E1-6A14-41BF-80B5-FDB413C02E9C}" presName="parentText" presStyleLbl="node1" presStyleIdx="5" presStyleCnt="9">
        <dgm:presLayoutVars>
          <dgm:chMax val="0"/>
          <dgm:bulletEnabled val="1"/>
        </dgm:presLayoutVars>
      </dgm:prSet>
      <dgm:spPr/>
    </dgm:pt>
    <dgm:pt modelId="{C0CC994B-0776-44AD-9114-DB50B4D8F54C}" type="pres">
      <dgm:prSet presAssocID="{D6B89DC4-FB3F-4FB9-BD1B-1121292F8BC3}" presName="spacer" presStyleCnt="0"/>
      <dgm:spPr/>
    </dgm:pt>
    <dgm:pt modelId="{5790177D-0594-48B6-82A9-F117433569D9}" type="pres">
      <dgm:prSet presAssocID="{74609D22-B88B-4905-986B-CF64454A61A0}" presName="parentText" presStyleLbl="node1" presStyleIdx="6" presStyleCnt="9">
        <dgm:presLayoutVars>
          <dgm:chMax val="0"/>
          <dgm:bulletEnabled val="1"/>
        </dgm:presLayoutVars>
      </dgm:prSet>
      <dgm:spPr/>
    </dgm:pt>
    <dgm:pt modelId="{BA110174-9187-4207-98C0-1D4F4FBB26B7}" type="pres">
      <dgm:prSet presAssocID="{7D0EA8B8-32EA-4F41-84F4-02131CEBBEE1}" presName="spacer" presStyleCnt="0"/>
      <dgm:spPr/>
    </dgm:pt>
    <dgm:pt modelId="{3282CEC3-B2A8-4AD2-A53C-EE7927404D14}" type="pres">
      <dgm:prSet presAssocID="{11BD9FFC-01E8-4E3E-9AD0-ED2FF3DB3D8C}" presName="parentText" presStyleLbl="node1" presStyleIdx="7" presStyleCnt="9">
        <dgm:presLayoutVars>
          <dgm:chMax val="0"/>
          <dgm:bulletEnabled val="1"/>
        </dgm:presLayoutVars>
      </dgm:prSet>
      <dgm:spPr/>
    </dgm:pt>
    <dgm:pt modelId="{19204F90-997A-43AB-BEF1-494FCB12133C}" type="pres">
      <dgm:prSet presAssocID="{EBD42968-84D4-4611-AB31-48562832E5C7}" presName="spacer" presStyleCnt="0"/>
      <dgm:spPr/>
    </dgm:pt>
    <dgm:pt modelId="{B7811548-9C32-4DDF-8F46-F7C3DC498537}" type="pres">
      <dgm:prSet presAssocID="{9766D524-CB5E-428B-8932-7CDE64C2731A}" presName="parentText" presStyleLbl="node1" presStyleIdx="8" presStyleCnt="9">
        <dgm:presLayoutVars>
          <dgm:chMax val="0"/>
          <dgm:bulletEnabled val="1"/>
        </dgm:presLayoutVars>
      </dgm:prSet>
      <dgm:spPr/>
    </dgm:pt>
  </dgm:ptLst>
  <dgm:cxnLst>
    <dgm:cxn modelId="{2800BF1A-95CF-42F2-AA83-EEDAE169134A}" srcId="{AC95D570-2CF2-4E1C-91FF-6CD5A3595442}" destId="{959A8E06-D68D-459B-AC2F-205E53755890}" srcOrd="2" destOrd="0" parTransId="{6B8B60DE-3EF7-4298-ADC7-6EF583A89912}" sibTransId="{7E73E5BF-C694-4C90-A642-308C390471F9}"/>
    <dgm:cxn modelId="{24C60C26-AAA7-4809-BB81-27600C5EDFA7}" type="presOf" srcId="{11BD9FFC-01E8-4E3E-9AD0-ED2FF3DB3D8C}" destId="{3282CEC3-B2A8-4AD2-A53C-EE7927404D14}" srcOrd="0" destOrd="0" presId="urn:microsoft.com/office/officeart/2005/8/layout/vList2"/>
    <dgm:cxn modelId="{CFE5C528-9BBE-4407-A6ED-67281DC33907}" type="presOf" srcId="{131AAF27-118E-4426-B0EA-2017898AE683}" destId="{3F21A06B-8AF2-4813-9250-7C4A116DD4BD}" srcOrd="0" destOrd="0" presId="urn:microsoft.com/office/officeart/2005/8/layout/vList2"/>
    <dgm:cxn modelId="{809A8434-37AD-429E-855B-4A9C3C5AD857}" srcId="{AC95D570-2CF2-4E1C-91FF-6CD5A3595442}" destId="{07B304E1-6A14-41BF-80B5-FDB413C02E9C}" srcOrd="5" destOrd="0" parTransId="{558AEA5E-A926-4809-AB5B-D7D9D5BB2DE9}" sibTransId="{D6B89DC4-FB3F-4FB9-BD1B-1121292F8BC3}"/>
    <dgm:cxn modelId="{1A993536-97A4-4772-8B58-AE1470BE42F2}" srcId="{AC95D570-2CF2-4E1C-91FF-6CD5A3595442}" destId="{11BD9FFC-01E8-4E3E-9AD0-ED2FF3DB3D8C}" srcOrd="7" destOrd="0" parTransId="{DADFE353-9DD5-4AD2-A28A-FB1AD86AAD74}" sibTransId="{EBD42968-84D4-4611-AB31-48562832E5C7}"/>
    <dgm:cxn modelId="{19FB405C-2E80-4969-90B0-E63C174D4053}" srcId="{AC95D570-2CF2-4E1C-91FF-6CD5A3595442}" destId="{4A8B89E1-E60C-490A-B1D6-56B27D04AA8B}" srcOrd="4" destOrd="0" parTransId="{C0D4E5F1-666F-4E5F-BE53-BECE8664BE5F}" sibTransId="{D3A47517-E84D-45EE-A46F-7C1A438B2EA2}"/>
    <dgm:cxn modelId="{277EBC62-A8CF-41CA-B97F-F9565085065C}" srcId="{AC95D570-2CF2-4E1C-91FF-6CD5A3595442}" destId="{9766D524-CB5E-428B-8932-7CDE64C2731A}" srcOrd="8" destOrd="0" parTransId="{FBA183D4-26E9-4BCE-B019-8E3655B70223}" sibTransId="{4C0ACD66-25C0-4C2F-BF4C-DF015DC2CF1A}"/>
    <dgm:cxn modelId="{21139C83-12A2-4F20-8519-F07BE5CBF8CE}" type="presOf" srcId="{4A8B89E1-E60C-490A-B1D6-56B27D04AA8B}" destId="{59CF31DB-0A77-4220-A752-6E9DD00D46C3}" srcOrd="0" destOrd="0" presId="urn:microsoft.com/office/officeart/2005/8/layout/vList2"/>
    <dgm:cxn modelId="{87F5B0BB-50EF-4FF0-ADE6-048E7AD2C20B}" srcId="{AC95D570-2CF2-4E1C-91FF-6CD5A3595442}" destId="{965F01F9-8C5E-4B64-95D6-7273A94E82DF}" srcOrd="3" destOrd="0" parTransId="{09AAAB5E-50D0-40B7-86FD-FDFA09D5D8CF}" sibTransId="{A8DCC4FD-59D7-4066-A635-7309D5006A48}"/>
    <dgm:cxn modelId="{5FD039D0-358E-4A09-A8D2-3CC72E12631E}" type="presOf" srcId="{07B304E1-6A14-41BF-80B5-FDB413C02E9C}" destId="{1D7A9860-5A12-4D10-9598-F40D776F9C56}" srcOrd="0" destOrd="0" presId="urn:microsoft.com/office/officeart/2005/8/layout/vList2"/>
    <dgm:cxn modelId="{4A44D7D4-B796-47E0-A490-7491090E4B87}" type="presOf" srcId="{74609D22-B88B-4905-986B-CF64454A61A0}" destId="{5790177D-0594-48B6-82A9-F117433569D9}" srcOrd="0" destOrd="0" presId="urn:microsoft.com/office/officeart/2005/8/layout/vList2"/>
    <dgm:cxn modelId="{68241FD6-7C62-45AC-9D1A-0EA8E53B49C5}" type="presOf" srcId="{959A8E06-D68D-459B-AC2F-205E53755890}" destId="{1C97E38C-D75F-4FC4-AF91-0A7A4E375629}" srcOrd="0" destOrd="0" presId="urn:microsoft.com/office/officeart/2005/8/layout/vList2"/>
    <dgm:cxn modelId="{A67B42D7-861F-4D2D-8D32-5D5798DED30F}" srcId="{AC95D570-2CF2-4E1C-91FF-6CD5A3595442}" destId="{6D64A1A0-5292-4BD2-B9F5-F14EE5457B06}" srcOrd="0" destOrd="0" parTransId="{CF0836DE-F075-442E-AB9D-ECA4501144FF}" sibTransId="{FCDF7B35-9DE3-4602-B215-2F3B2805EB06}"/>
    <dgm:cxn modelId="{2A1D6BDA-2F7F-469B-852A-D9DE4D66F776}" type="presOf" srcId="{6D64A1A0-5292-4BD2-B9F5-F14EE5457B06}" destId="{A45DED54-3252-44D0-9985-854E48173995}" srcOrd="0" destOrd="0" presId="urn:microsoft.com/office/officeart/2005/8/layout/vList2"/>
    <dgm:cxn modelId="{B58099E5-EB66-4789-8AD9-6629F39B7DDA}" srcId="{AC95D570-2CF2-4E1C-91FF-6CD5A3595442}" destId="{74609D22-B88B-4905-986B-CF64454A61A0}" srcOrd="6" destOrd="0" parTransId="{34419B8A-FF27-40AD-9974-6833D9902D5F}" sibTransId="{7D0EA8B8-32EA-4F41-84F4-02131CEBBEE1}"/>
    <dgm:cxn modelId="{A3D47EE9-428C-42FD-BD64-B36A5629B0B1}" srcId="{AC95D570-2CF2-4E1C-91FF-6CD5A3595442}" destId="{131AAF27-118E-4426-B0EA-2017898AE683}" srcOrd="1" destOrd="0" parTransId="{93D5FF74-D72F-4FA7-B058-55AAD2AD8FBA}" sibTransId="{CF002633-5B5F-4216-87BF-081F7C8C5088}"/>
    <dgm:cxn modelId="{42091EEA-6A31-4F12-8A8C-C1C8421F7887}" type="presOf" srcId="{AC95D570-2CF2-4E1C-91FF-6CD5A3595442}" destId="{611A0B13-2A4A-4E3E-97A1-3CAD92402663}" srcOrd="0" destOrd="0" presId="urn:microsoft.com/office/officeart/2005/8/layout/vList2"/>
    <dgm:cxn modelId="{B1275CF5-AC63-46C6-98A0-A2C607083A99}" type="presOf" srcId="{965F01F9-8C5E-4B64-95D6-7273A94E82DF}" destId="{B13EB1CD-CEE1-418A-8B30-53BA6EB8A8A6}" srcOrd="0" destOrd="0" presId="urn:microsoft.com/office/officeart/2005/8/layout/vList2"/>
    <dgm:cxn modelId="{7498BAFC-EB6B-4920-BFDA-FEE684EEA7BD}" type="presOf" srcId="{9766D524-CB5E-428B-8932-7CDE64C2731A}" destId="{B7811548-9C32-4DDF-8F46-F7C3DC498537}" srcOrd="0" destOrd="0" presId="urn:microsoft.com/office/officeart/2005/8/layout/vList2"/>
    <dgm:cxn modelId="{947603DA-2973-48C3-AEB8-55DE897D6DEA}" type="presParOf" srcId="{611A0B13-2A4A-4E3E-97A1-3CAD92402663}" destId="{A45DED54-3252-44D0-9985-854E48173995}" srcOrd="0" destOrd="0" presId="urn:microsoft.com/office/officeart/2005/8/layout/vList2"/>
    <dgm:cxn modelId="{69879900-B606-45B4-8B15-4CAED7A0D735}" type="presParOf" srcId="{611A0B13-2A4A-4E3E-97A1-3CAD92402663}" destId="{46F6F08B-0ED8-4C82-908B-0889135F68D5}" srcOrd="1" destOrd="0" presId="urn:microsoft.com/office/officeart/2005/8/layout/vList2"/>
    <dgm:cxn modelId="{E121BBD5-83D3-473B-989A-BC0B87614235}" type="presParOf" srcId="{611A0B13-2A4A-4E3E-97A1-3CAD92402663}" destId="{3F21A06B-8AF2-4813-9250-7C4A116DD4BD}" srcOrd="2" destOrd="0" presId="urn:microsoft.com/office/officeart/2005/8/layout/vList2"/>
    <dgm:cxn modelId="{C617146E-CE23-49B6-813C-383AC6DBC3D2}" type="presParOf" srcId="{611A0B13-2A4A-4E3E-97A1-3CAD92402663}" destId="{C8B9FDEC-E5A1-4A91-8D25-529FDC4EE066}" srcOrd="3" destOrd="0" presId="urn:microsoft.com/office/officeart/2005/8/layout/vList2"/>
    <dgm:cxn modelId="{04F8DFD4-9A41-400C-99C8-4865067383A9}" type="presParOf" srcId="{611A0B13-2A4A-4E3E-97A1-3CAD92402663}" destId="{1C97E38C-D75F-4FC4-AF91-0A7A4E375629}" srcOrd="4" destOrd="0" presId="urn:microsoft.com/office/officeart/2005/8/layout/vList2"/>
    <dgm:cxn modelId="{729CA14C-0434-4703-BF9A-0D5CD0EAA2FA}" type="presParOf" srcId="{611A0B13-2A4A-4E3E-97A1-3CAD92402663}" destId="{77EDE191-2064-47A5-9D5F-35069CD1D3FD}" srcOrd="5" destOrd="0" presId="urn:microsoft.com/office/officeart/2005/8/layout/vList2"/>
    <dgm:cxn modelId="{C45EDFB8-A530-491D-9110-E78AB51D0015}" type="presParOf" srcId="{611A0B13-2A4A-4E3E-97A1-3CAD92402663}" destId="{B13EB1CD-CEE1-418A-8B30-53BA6EB8A8A6}" srcOrd="6" destOrd="0" presId="urn:microsoft.com/office/officeart/2005/8/layout/vList2"/>
    <dgm:cxn modelId="{DBD721B4-6443-457C-A11B-678249CCBF89}" type="presParOf" srcId="{611A0B13-2A4A-4E3E-97A1-3CAD92402663}" destId="{09EDAF1C-C091-462D-AE74-76FB90CA339A}" srcOrd="7" destOrd="0" presId="urn:microsoft.com/office/officeart/2005/8/layout/vList2"/>
    <dgm:cxn modelId="{8354692B-3E2D-4988-86DB-6006158F958A}" type="presParOf" srcId="{611A0B13-2A4A-4E3E-97A1-3CAD92402663}" destId="{59CF31DB-0A77-4220-A752-6E9DD00D46C3}" srcOrd="8" destOrd="0" presId="urn:microsoft.com/office/officeart/2005/8/layout/vList2"/>
    <dgm:cxn modelId="{5FBF209E-C194-42D6-A6C4-1C6A71B55609}" type="presParOf" srcId="{611A0B13-2A4A-4E3E-97A1-3CAD92402663}" destId="{C6D8794F-6D02-4E39-95A9-367E6DC2D459}" srcOrd="9" destOrd="0" presId="urn:microsoft.com/office/officeart/2005/8/layout/vList2"/>
    <dgm:cxn modelId="{7B47D9A1-3CFF-4C7D-B52F-E5B886F44250}" type="presParOf" srcId="{611A0B13-2A4A-4E3E-97A1-3CAD92402663}" destId="{1D7A9860-5A12-4D10-9598-F40D776F9C56}" srcOrd="10" destOrd="0" presId="urn:microsoft.com/office/officeart/2005/8/layout/vList2"/>
    <dgm:cxn modelId="{7D26097A-7692-45AE-AD4F-2FB1E90C30C8}" type="presParOf" srcId="{611A0B13-2A4A-4E3E-97A1-3CAD92402663}" destId="{C0CC994B-0776-44AD-9114-DB50B4D8F54C}" srcOrd="11" destOrd="0" presId="urn:microsoft.com/office/officeart/2005/8/layout/vList2"/>
    <dgm:cxn modelId="{E6B27F74-D09D-4CFC-80C4-4EEDDEFBCDC3}" type="presParOf" srcId="{611A0B13-2A4A-4E3E-97A1-3CAD92402663}" destId="{5790177D-0594-48B6-82A9-F117433569D9}" srcOrd="12" destOrd="0" presId="urn:microsoft.com/office/officeart/2005/8/layout/vList2"/>
    <dgm:cxn modelId="{206E40AC-CFAD-4AB7-BD3A-3724D2726C24}" type="presParOf" srcId="{611A0B13-2A4A-4E3E-97A1-3CAD92402663}" destId="{BA110174-9187-4207-98C0-1D4F4FBB26B7}" srcOrd="13" destOrd="0" presId="urn:microsoft.com/office/officeart/2005/8/layout/vList2"/>
    <dgm:cxn modelId="{C124E1E8-EDAC-4DE8-AF76-4D286C13A622}" type="presParOf" srcId="{611A0B13-2A4A-4E3E-97A1-3CAD92402663}" destId="{3282CEC3-B2A8-4AD2-A53C-EE7927404D14}" srcOrd="14" destOrd="0" presId="urn:microsoft.com/office/officeart/2005/8/layout/vList2"/>
    <dgm:cxn modelId="{B9387A43-C429-440F-9925-3E3775BC6DE1}" type="presParOf" srcId="{611A0B13-2A4A-4E3E-97A1-3CAD92402663}" destId="{19204F90-997A-43AB-BEF1-494FCB12133C}" srcOrd="15" destOrd="0" presId="urn:microsoft.com/office/officeart/2005/8/layout/vList2"/>
    <dgm:cxn modelId="{AEEE4FE2-5E02-43A2-840B-E1542D07EE47}" type="presParOf" srcId="{611A0B13-2A4A-4E3E-97A1-3CAD92402663}" destId="{B7811548-9C32-4DDF-8F46-F7C3DC498537}" srcOrd="1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5DED54-3252-44D0-9985-854E48173995}">
      <dsp:nvSpPr>
        <dsp:cNvPr id="0" name=""/>
        <dsp:cNvSpPr/>
      </dsp:nvSpPr>
      <dsp:spPr>
        <a:xfrm>
          <a:off x="0" y="53150"/>
          <a:ext cx="9486690" cy="491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The </a:t>
          </a:r>
          <a:r>
            <a:rPr lang="en-US" sz="1200" b="1" kern="1200"/>
            <a:t>Coefficient of Variation (CV)</a:t>
          </a:r>
          <a:r>
            <a:rPr lang="en-US" sz="1200" kern="1200"/>
            <a:t> is a statistical measure of </a:t>
          </a:r>
          <a:r>
            <a:rPr lang="en-US" sz="1200" b="1" kern="1200"/>
            <a:t>relative variability</a:t>
          </a:r>
          <a:r>
            <a:rPr lang="en-US" sz="1200" kern="1200"/>
            <a:t>. It shows how large the standard deviation is compared to the mean of a dataset.</a:t>
          </a:r>
        </a:p>
      </dsp:txBody>
      <dsp:txXfrm>
        <a:off x="23988" y="77138"/>
        <a:ext cx="9438714" cy="443423"/>
      </dsp:txXfrm>
    </dsp:sp>
    <dsp:sp modelId="{3F21A06B-8AF2-4813-9250-7C4A116DD4BD}">
      <dsp:nvSpPr>
        <dsp:cNvPr id="0" name=""/>
        <dsp:cNvSpPr/>
      </dsp:nvSpPr>
      <dsp:spPr>
        <a:xfrm>
          <a:off x="0" y="579110"/>
          <a:ext cx="9486690" cy="491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📌 Formula</a:t>
          </a:r>
        </a:p>
      </dsp:txBody>
      <dsp:txXfrm>
        <a:off x="23988" y="603098"/>
        <a:ext cx="9438714" cy="443423"/>
      </dsp:txXfrm>
    </dsp:sp>
    <dsp:sp modelId="{1C97E38C-D75F-4FC4-AF91-0A7A4E375629}">
      <dsp:nvSpPr>
        <dsp:cNvPr id="0" name=""/>
        <dsp:cNvSpPr/>
      </dsp:nvSpPr>
      <dsp:spPr>
        <a:xfrm>
          <a:off x="0" y="1105070"/>
          <a:ext cx="9486690" cy="491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CV=Standard Deviation/Mean</a:t>
          </a:r>
        </a:p>
      </dsp:txBody>
      <dsp:txXfrm>
        <a:off x="23988" y="1129058"/>
        <a:ext cx="9438714" cy="443423"/>
      </dsp:txXfrm>
    </dsp:sp>
    <dsp:sp modelId="{B13EB1CD-CEE1-418A-8B30-53BA6EB8A8A6}">
      <dsp:nvSpPr>
        <dsp:cNvPr id="0" name=""/>
        <dsp:cNvSpPr/>
      </dsp:nvSpPr>
      <dsp:spPr>
        <a:xfrm>
          <a:off x="0" y="1631030"/>
          <a:ext cx="9486690" cy="491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→ Lower CV means lower risk relative to return.</a:t>
          </a:r>
        </a:p>
      </dsp:txBody>
      <dsp:txXfrm>
        <a:off x="23988" y="1655018"/>
        <a:ext cx="9438714" cy="443423"/>
      </dsp:txXfrm>
    </dsp:sp>
    <dsp:sp modelId="{59CF31DB-0A77-4220-A752-6E9DD00D46C3}">
      <dsp:nvSpPr>
        <dsp:cNvPr id="0" name=""/>
        <dsp:cNvSpPr/>
      </dsp:nvSpPr>
      <dsp:spPr>
        <a:xfrm>
          <a:off x="0" y="2156990"/>
          <a:ext cx="9486690" cy="491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❗ </a:t>
          </a:r>
          <a:r>
            <a:rPr lang="en-US" sz="1200" b="1" kern="1200"/>
            <a:t>High variability (less consistency)</a:t>
          </a:r>
          <a:endParaRPr lang="en-US" sz="1200" kern="1200"/>
        </a:p>
      </dsp:txBody>
      <dsp:txXfrm>
        <a:off x="23988" y="2180978"/>
        <a:ext cx="9438714" cy="443423"/>
      </dsp:txXfrm>
    </dsp:sp>
    <dsp:sp modelId="{1D7A9860-5A12-4D10-9598-F40D776F9C56}">
      <dsp:nvSpPr>
        <dsp:cNvPr id="0" name=""/>
        <dsp:cNvSpPr/>
      </dsp:nvSpPr>
      <dsp:spPr>
        <a:xfrm>
          <a:off x="0" y="2682950"/>
          <a:ext cx="9486690" cy="491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The data values are </a:t>
          </a:r>
          <a:r>
            <a:rPr lang="en-US" sz="1200" b="1" kern="1200"/>
            <a:t>widely spread out</a:t>
          </a:r>
          <a:r>
            <a:rPr lang="en-US" sz="1200" kern="1200"/>
            <a:t> compared to the mean.</a:t>
          </a:r>
        </a:p>
      </dsp:txBody>
      <dsp:txXfrm>
        <a:off x="23988" y="2706938"/>
        <a:ext cx="9438714" cy="443423"/>
      </dsp:txXfrm>
    </dsp:sp>
    <dsp:sp modelId="{5790177D-0594-48B6-82A9-F117433569D9}">
      <dsp:nvSpPr>
        <dsp:cNvPr id="0" name=""/>
        <dsp:cNvSpPr/>
      </dsp:nvSpPr>
      <dsp:spPr>
        <a:xfrm>
          <a:off x="0" y="3208910"/>
          <a:ext cx="9486690" cy="491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In simple words:</a:t>
          </a:r>
        </a:p>
      </dsp:txBody>
      <dsp:txXfrm>
        <a:off x="23988" y="3232898"/>
        <a:ext cx="9438714" cy="443423"/>
      </dsp:txXfrm>
    </dsp:sp>
    <dsp:sp modelId="{3282CEC3-B2A8-4AD2-A53C-EE7927404D14}">
      <dsp:nvSpPr>
        <dsp:cNvPr id="0" name=""/>
        <dsp:cNvSpPr/>
      </dsp:nvSpPr>
      <dsp:spPr>
        <a:xfrm>
          <a:off x="0" y="3734870"/>
          <a:ext cx="9486690" cy="491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High CV → More variation, more instability</a:t>
          </a:r>
          <a:endParaRPr lang="en-US" sz="1200" kern="1200"/>
        </a:p>
      </dsp:txBody>
      <dsp:txXfrm>
        <a:off x="23988" y="3758858"/>
        <a:ext cx="9438714" cy="443423"/>
      </dsp:txXfrm>
    </dsp:sp>
    <dsp:sp modelId="{B7811548-9C32-4DDF-8F46-F7C3DC498537}">
      <dsp:nvSpPr>
        <dsp:cNvPr id="0" name=""/>
        <dsp:cNvSpPr/>
      </dsp:nvSpPr>
      <dsp:spPr>
        <a:xfrm>
          <a:off x="0" y="4260830"/>
          <a:ext cx="9486690" cy="491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Low CV → Less variation, more stability</a:t>
          </a:r>
          <a:endParaRPr lang="en-US" sz="1200" kern="1200"/>
        </a:p>
      </dsp:txBody>
      <dsp:txXfrm>
        <a:off x="23988" y="4284818"/>
        <a:ext cx="9438714" cy="4434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03645-DCFE-47FC-8A66-F9A45A422E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1150" y="1247140"/>
            <a:ext cx="7891760" cy="3450844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D509FA-7BD7-4D45-998F-0E43038F17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21150" y="4818126"/>
            <a:ext cx="7891760" cy="1268984"/>
          </a:xfrm>
        </p:spPr>
        <p:txBody>
          <a:bodyPr anchor="b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03A0B2-4A2F-D846-A5E6-FB7CB9A031F7}"/>
              </a:ext>
            </a:extLst>
          </p:cNvPr>
          <p:cNvSpPr/>
          <p:nvPr/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573F1D-73A7-FB41-BCAD-FC9AA7DEF4F5}"/>
              </a:ext>
            </a:extLst>
          </p:cNvPr>
          <p:cNvSpPr/>
          <p:nvPr/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FA51C-E4FE-4BF2-A2DD-E32DE57D8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1449AA12-8195-4182-A7AC-2E7E59DFBDAF}" type="datetimeFigureOut">
              <a:rPr lang="en-US" smtClean="0"/>
              <a:pPr algn="r"/>
              <a:t>7/3/2026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438448-FC2D-4A2F-B7C0-04AC5031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1150" y="6292850"/>
            <a:ext cx="4114800" cy="365125"/>
          </a:xfrm>
        </p:spPr>
        <p:txBody>
          <a:bodyPr/>
          <a:lstStyle/>
          <a:p>
            <a:pPr algn="l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B07C67E-EAD9-47D8-9559-4E091BC03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877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C5DD8-8608-4B55-96D8-0AB848C02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3CC0B-7B21-422D-937D-FBD49EE93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0EAFA-89BC-43E9-8EB9-B6B3CD136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50944-70C2-487F-A102-58CDFB94C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7B7B8-A972-455E-9D8C-9B8026A53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CC95119-6D9D-3542-9E0E-4171B33DC9CA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FC92F19-7317-314C-81B7-43B8B687F4E4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294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087F2-AA0E-4F0C-9AD6-235302157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1150" y="1251674"/>
            <a:ext cx="7891760" cy="2914688"/>
          </a:xfrm>
        </p:spPr>
        <p:txBody>
          <a:bodyPr anchor="t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37807-96B8-4061-A845-1287216BF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21150" y="4818126"/>
            <a:ext cx="7891760" cy="1271524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AF346-9503-4767-BCB4-84B823E27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9605B-A39D-4BEE-B46F-16CF13FA0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1150" y="62928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5834A-942D-410B-A430-43F9E01FC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D199D5-C485-D449-9804-F755E0907B51}"/>
              </a:ext>
            </a:extLst>
          </p:cNvPr>
          <p:cNvSpPr/>
          <p:nvPr/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90D1A7-C550-2540-86C9-EB0FB2EB2E71}"/>
              </a:ext>
            </a:extLst>
          </p:cNvPr>
          <p:cNvSpPr/>
          <p:nvPr/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472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FCAD2-C321-4E81-AEBE-696A90E2D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5504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20CD1-0E09-4415-911C-0F5B7341DD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87709" y="2160016"/>
            <a:ext cx="4425437" cy="3927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63EDD-031A-49CA-9130-067550BD0D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48963" y="2160016"/>
            <a:ext cx="4425437" cy="3927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808E79-A0BE-49F3-AE92-7EE5CC78F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98B87C-BF1E-47CF-9A4E-FD4BE32C0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C06E71-46F6-469C-A9CA-E707EBE51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2659F6-6B3B-A545-A45F-FAD238210D47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0637F8-15DE-2240-8BF8-D6E57A337B1A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047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3B26D-64DE-4314-8BD2-25FD618FB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1056" y="457200"/>
            <a:ext cx="9521854" cy="1554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D77613-5CEE-4B05-A937-CD43EAAAB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91057" y="2165086"/>
            <a:ext cx="4425696" cy="823912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3E4779-3B5A-4993-9C7F-FB19F163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91056" y="2988998"/>
            <a:ext cx="4425697" cy="309811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1081A-685C-4C18-9AE9-425106A02F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87214" y="2165086"/>
            <a:ext cx="4425696" cy="823912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80F424-FE3A-4B7D-B60C-7AEA2118A5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87214" y="2988998"/>
            <a:ext cx="4425696" cy="309811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4D2A96-CD7D-41BC-BDBE-5E29B7C0B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D1471D-6DDE-4E56-84E9-48136966A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A3F451-CF28-4F57-B844-52A665440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1FA03E-7A83-AB41-BB4B-25B04946559A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702630-3C98-A142-9D04-1D852974DC26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564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22D7A-4502-49C3-BAFB-6D46F7A2E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AB67EE-A167-43D1-9C58-7B736CF28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605B7-599B-450E-9E8D-2A9AE3F30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5BD2B1-8C5F-430B-A0F2-CD5281AB7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BA877B-B45A-BD48-8FC8-E752E7D7174F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F3343D-2AFA-B544-B40A-315F5EC680B6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379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308016-71BA-4CD3-918D-51613F7F4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B24F46-0425-47C6-9FFB-F69AFFFE8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E7A99-1593-4189-A514-8209CC32A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C15DFD-AB97-AB43-A6C9-2808708C91B4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05BA89-ECA6-2247-ABBB-3C67160202E9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090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E933B-3FC6-4B08-9FBE-2DD48307A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2" y="455362"/>
            <a:ext cx="4043440" cy="1584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FBD4A-4514-4DCE-8F18-914DF3F4E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1232" y="565151"/>
            <a:ext cx="5358384" cy="552196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F18C85-0675-4202-B796-3527668549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87712" y="2039874"/>
            <a:ext cx="4043440" cy="38291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0079E5-F934-4D04-866F-F7CB5B08A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5FC94-7915-439A-B937-F02D1BB03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B69B19-4156-4584-B1DC-4F42F200B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1B6031-8ABE-F648-8E05-3D08D0D54B53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ABD855-35E6-BE4F-8B03-FD12DDB32E10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88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E1F3B-090C-4BB5-84BE-8ED0FC598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1" y="455362"/>
            <a:ext cx="4043436" cy="1584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97C49E-9426-4B24-B2A7-C54B89DA60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1232" y="565150"/>
            <a:ext cx="5355607" cy="552267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C7F011-0A5F-44E9-88CD-C95A33351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87711" y="2039874"/>
            <a:ext cx="4043436" cy="38291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21C85-27BB-4533-A21B-C379FE03A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18850-01F1-4247-9BFD-1DDC5DDDC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B365A9-4C28-480F-B370-2DFF234B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0EAFF3-0A84-F84B-90E4-A596F00B3DC2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392559-3C15-B249-93C9-B0F7E9E5DDD8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777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C53B0-59B2-4B39-93E0-DCFBB932C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525200" cy="15504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8C5F7B-98AC-425B-80BD-6C6F3032D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87710" y="2160016"/>
            <a:ext cx="9525200" cy="39261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8C2EE-2433-424A-878C-24514FF5D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EFD20-ADE2-40F3-A071-6D1E97F8F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7D1D5-5E92-48E1-9475-EC122D3FE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FCF945-5CF3-5542-A36A-9CBB738E735E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7D61B-66C5-4341-8F2D-129A9E4D8283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938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47FBCF-6EDB-4883-92D4-612F4D1C55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46380" y="565149"/>
            <a:ext cx="2266530" cy="56118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9D2DF8-B588-416F-AA11-9F3A0DDE67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87710" y="565149"/>
            <a:ext cx="7088929" cy="56118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F7B1D-405D-4EE7-9A23-3F21916C9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B9304-686C-431A-8E7F-D9DD19F4D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A240B-DB2E-46ED-8AC6-744B2C1C7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275F2C-778B-864A-8379-6D0726B18FDC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0051C8-76B3-384B-BCF1-60BB80301FCD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59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7ACD69-D2F4-4938-B590-C41404901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5504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762BD4-BA0F-4CA4-BAE3-DF2B5087C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87710" y="2160016"/>
            <a:ext cx="9486690" cy="39261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B2FEE-249E-42F1-94D8-A8C0759EF4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18632" y="6292850"/>
            <a:ext cx="30942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49AA12-8195-4182-A7AC-2E7E59DFBDAF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0C617-A890-4920-83B0-143C033490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7711" y="62928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1B4F1-B06B-4BBE-BFFF-C0B386E244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9574" y="6292850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FC975-2FD7-44A5-9E78-ECBA4615607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0522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0" r:id="rId6"/>
    <p:sldLayoutId id="2147483726" r:id="rId7"/>
    <p:sldLayoutId id="2147483727" r:id="rId8"/>
    <p:sldLayoutId id="2147483728" r:id="rId9"/>
    <p:sldLayoutId id="2147483729" r:id="rId10"/>
    <p:sldLayoutId id="214748373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200"/>
        </a:spcBef>
        <a:buClr>
          <a:schemeClr val="accent1"/>
        </a:buClr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D03A0B2-4A2F-D846-A5E6-FB7CB9A03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F573F1D-73A7-FB41-BCAD-FC9AA7DEF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B8ECA89-3FD7-4BB2-A39F-9230467636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221150" y="1247140"/>
            <a:ext cx="7891760" cy="34508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/>
              <a:t>Metal prices &amp; Inflation Analysis</a:t>
            </a:r>
            <a:br>
              <a:rPr lang="en-US" sz="6000"/>
            </a:br>
            <a:endParaRPr lang="en-US" sz="6000"/>
          </a:p>
        </p:txBody>
      </p:sp>
      <p:sp>
        <p:nvSpPr>
          <p:cNvPr id="3" name="Subtitle 2"/>
          <p:cNvSpPr>
            <a:spLocks noGrp="1"/>
          </p:cNvSpPr>
          <p:nvPr>
            <p:ph type="body" idx="4294967295"/>
          </p:nvPr>
        </p:nvSpPr>
        <p:spPr>
          <a:xfrm>
            <a:off x="3221150" y="4818126"/>
            <a:ext cx="7891760" cy="1268984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400"/>
              <a:t>Name: kiran harihar karale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4F2D2D6-8669-4EA9-A05C-2A810ECFCF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151AF58-5E9F-478C-896B-D261D731B9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3DCB6C-A911-41BE-B054-6A907F8EF6D3}"/>
              </a:ext>
            </a:extLst>
          </p:cNvPr>
          <p:cNvSpPr/>
          <p:nvPr/>
        </p:nvSpPr>
        <p:spPr>
          <a:xfrm flipH="1" flipV="1">
            <a:off x="-8101181" y="9380105"/>
            <a:ext cx="1187807" cy="88976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97D4C-E73D-077F-6D5A-EA9EEE031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538" y="571173"/>
            <a:ext cx="8417432" cy="5950354"/>
          </a:xfrm>
        </p:spPr>
        <p:txBody>
          <a:bodyPr>
            <a:normAutofit/>
          </a:bodyPr>
          <a:lstStyle/>
          <a:p>
            <a:r>
              <a:rPr lang="en-GB" sz="3600"/>
              <a:t>                          Introduction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F65FF9-BB7A-BF3D-4E5E-415B340F1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4314" y="1615038"/>
            <a:ext cx="8589499" cy="450379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en-GB">
                <a:ea typeface="+mn-lt"/>
                <a:cs typeface="+mn-lt"/>
              </a:rPr>
              <a:t>Metals: Aluminium, Gold, Silver, Nickel, Uranium</a:t>
            </a:r>
            <a:endParaRPr lang="en-US"/>
          </a:p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en-GB"/>
              <a:t>- Examining price trends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en-GB"/>
              <a:t>- Inflation impact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en-GB"/>
              <a:t>- Key patterns"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endParaRPr lang="en-GB"/>
          </a:p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endParaRPr lang="en-US"/>
          </a:p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endParaRPr lang="en-GB"/>
          </a:p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endParaRPr lang="en-GB"/>
          </a:p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en-GB"/>
              <a:t>- Key patterns"</a:t>
            </a:r>
          </a:p>
          <a:p>
            <a:pPr marL="0" indent="0">
              <a:buNone/>
            </a:pPr>
            <a:endParaRPr lang="en-GB" sz="3600"/>
          </a:p>
        </p:txBody>
      </p:sp>
    </p:spTree>
    <p:extLst>
      <p:ext uri="{BB962C8B-B14F-4D97-AF65-F5344CB8AC3E}">
        <p14:creationId xmlns:p14="http://schemas.microsoft.com/office/powerpoint/2010/main" val="1756201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EAB06-25B6-390E-971B-870857D77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/>
              <a:t>Inflation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61AC0-F63E-4A73-F5FD-0363C601F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sz="2000" b="1">
                <a:highlight>
                  <a:srgbClr val="000000"/>
                </a:highlight>
                <a:latin typeface="Roboto"/>
                <a:ea typeface="Roboto"/>
                <a:cs typeface="Roboto"/>
              </a:rPr>
              <a:t>Inflation is the general increase in prices of goods and services over time, which reduces the purchasing power of money.</a:t>
            </a:r>
          </a:p>
          <a:p>
            <a:r>
              <a:rPr lang="en-GB" sz="2400" b="1">
                <a:highlight>
                  <a:srgbClr val="000000"/>
                </a:highlight>
                <a:latin typeface="Roboto"/>
                <a:ea typeface="Roboto"/>
                <a:cs typeface="Roboto"/>
              </a:rPr>
              <a:t>How Inflation Is Measured</a:t>
            </a:r>
          </a:p>
          <a:p>
            <a:r>
              <a:rPr lang="en-GB" sz="2000">
                <a:highlight>
                  <a:srgbClr val="000000"/>
                </a:highlight>
                <a:latin typeface="Roboto"/>
                <a:ea typeface="Roboto"/>
                <a:cs typeface="Roboto"/>
              </a:rPr>
              <a:t>Inflation is typically measured using </a:t>
            </a:r>
            <a:r>
              <a:rPr lang="en-GB" sz="2000" b="1">
                <a:highlight>
                  <a:srgbClr val="000000"/>
                </a:highlight>
                <a:latin typeface="Roboto"/>
                <a:ea typeface="Roboto"/>
                <a:cs typeface="Roboto"/>
              </a:rPr>
              <a:t>price indices</a:t>
            </a:r>
            <a:r>
              <a:rPr lang="en-GB" sz="2000">
                <a:highlight>
                  <a:srgbClr val="000000"/>
                </a:highlight>
                <a:latin typeface="Roboto"/>
                <a:ea typeface="Roboto"/>
                <a:cs typeface="Roboto"/>
              </a:rPr>
              <a:t>, which track the cost of a representative basket of goods and services over time:</a:t>
            </a:r>
            <a:endParaRPr lang="en-GB" sz="2000">
              <a:highlight>
                <a:srgbClr val="000000"/>
              </a:highlight>
            </a:endParaRPr>
          </a:p>
          <a:p>
            <a:endParaRPr lang="en-GB" sz="2000" b="1">
              <a:highlight>
                <a:srgbClr val="F8F4F1"/>
              </a:highlight>
              <a:latin typeface="Roboto"/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35503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A88F843D-1C1B-C740-AC27-E3238D0F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5B0F748-7FA7-4DDF-89A3-7F1D8EE1F7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903E872-C07A-4030-B584-D321D40CAB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DF8365-7B82-945B-3F15-7F1E15881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7321" y="4309024"/>
            <a:ext cx="9677833" cy="1134452"/>
          </a:xfrm>
        </p:spPr>
        <p:txBody>
          <a:bodyPr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GB" sz="2900"/>
              <a:t>Month wise sales of metals so we see the sales of nickel is  highest as compare to Other metals</a:t>
            </a:r>
            <a:endParaRPr lang="en-US" sz="2900" err="1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336129B-8148-9D7C-87B7-B55D4507BD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7321" y="5455664"/>
            <a:ext cx="9677834" cy="613921"/>
          </a:xfrm>
        </p:spPr>
        <p:txBody>
          <a:bodyPr>
            <a:normAutofit/>
          </a:bodyPr>
          <a:lstStyle/>
          <a:p>
            <a:pPr algn="ctr"/>
            <a:endParaRPr lang="en-GB" b="1"/>
          </a:p>
          <a:p>
            <a:pPr algn="ctr"/>
            <a:endParaRPr lang="en-GB" b="1"/>
          </a:p>
          <a:p>
            <a:pPr algn="ctr"/>
            <a:endParaRPr lang="en-GB"/>
          </a:p>
        </p:txBody>
      </p:sp>
      <p:pic>
        <p:nvPicPr>
          <p:cNvPr id="4" name="Picture 3" descr="A graph of sales&#10;&#10;AI-generated content may be incorrect.">
            <a:extLst>
              <a:ext uri="{FF2B5EF4-FFF2-40B4-BE49-F238E27FC236}">
                <a16:creationId xmlns:a16="http://schemas.microsoft.com/office/drawing/2014/main" id="{3822D2DB-90FA-36DA-4521-AF3FCF4DB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508" y="572769"/>
            <a:ext cx="8394916" cy="3529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348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CC95119-6D9D-3542-9E0E-4171B33DC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C92F19-7317-314C-81B7-43B8B687F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C68F39-5E8A-844C-A8FD-394F253C1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583CEB-AC2B-2640-94F6-5958E6BC5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2792C7-FDA1-6E99-D67E-EAFFDEB334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95729" y="556214"/>
            <a:ext cx="3378671" cy="81083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/>
              <a:t>Linear regression</a:t>
            </a:r>
            <a:endParaRPr lang="en-US" sz="2800" b="1" kern="12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2B2366-CAF4-0331-2BED-2FF8C560DE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95728" y="2160016"/>
            <a:ext cx="3378672" cy="3926152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300"/>
              <a:t>The scatter plot shows a positive correlation between Gold Price (x-axis) and Silver Price (y-axis).</a:t>
            </a:r>
          </a:p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300"/>
              <a:t>1. Trend: As gold price increases, silver price tends to increase linearly.</a:t>
            </a:r>
          </a:p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300"/>
              <a:t>2. Relationship: The two metals' prices move together, suggesting a strong market linkage.</a:t>
            </a:r>
          </a:p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300"/>
              <a:t>3. Outliers: A few points deviate from the main trend (around gold price 1500–1750), indicating potential anomalies or market events.</a:t>
            </a:r>
          </a:p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300"/>
              <a:t>4. Modeling: You could build a linear regression model to predict silver price using gold price.</a:t>
            </a:r>
          </a:p>
        </p:txBody>
      </p:sp>
      <p:pic>
        <p:nvPicPr>
          <p:cNvPr id="4" name="Picture 3" descr="A graph showing the price of gold&#10;&#10;AI-generated content may be incorrect.">
            <a:extLst>
              <a:ext uri="{FF2B5EF4-FFF2-40B4-BE49-F238E27FC236}">
                <a16:creationId xmlns:a16="http://schemas.microsoft.com/office/drawing/2014/main" id="{FF1662A5-5B62-E021-A748-63E162047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327" y="1332456"/>
            <a:ext cx="5565250" cy="3993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356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247FD0E-C93A-490E-9994-C79DC8977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0D7488-5F67-EE96-3532-1C202F34A1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515" y="1247140"/>
            <a:ext cx="9512395" cy="3450844"/>
          </a:xfrm>
        </p:spPr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A442BA-3530-925E-443F-A5ED9481FA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0515" y="5128092"/>
            <a:ext cx="9499480" cy="959018"/>
          </a:xfrm>
        </p:spPr>
        <p:txBody>
          <a:bodyPr>
            <a:normAutofit/>
          </a:bodyPr>
          <a:lstStyle/>
          <a:p>
            <a:r>
              <a:rPr lang="en-GB">
                <a:ea typeface="+mn-lt"/>
                <a:cs typeface="+mn-lt"/>
              </a:rPr>
              <a:t>"Based on the graph, it can be inferred that inflation is continuously decreasing."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77B2DF-AF44-4996-BBFD-5DF9162BE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6BECB9-A7FC-400F-8502-97A13BB87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aph showing the growth of the economy&#10;&#10;AI-generated content may be incorrect.">
            <a:extLst>
              <a:ext uri="{FF2B5EF4-FFF2-40B4-BE49-F238E27FC236}">
                <a16:creationId xmlns:a16="http://schemas.microsoft.com/office/drawing/2014/main" id="{82E619CB-DFE0-35AD-5FD0-FDBAB8774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491" y="1241756"/>
            <a:ext cx="9492712" cy="3444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407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247FD0E-C93A-490E-9994-C79DC8977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DA3C2A-108C-1414-33CB-E06D1913FC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515" y="1247140"/>
            <a:ext cx="9512395" cy="3450844"/>
          </a:xfrm>
        </p:spPr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1C64B1-DC7D-6D78-3EC6-82D22043F1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0515" y="5920094"/>
            <a:ext cx="9512395" cy="753169"/>
          </a:xfrm>
        </p:spPr>
        <p:txBody>
          <a:bodyPr>
            <a:normAutofit/>
          </a:bodyPr>
          <a:lstStyle/>
          <a:p>
            <a:r>
              <a:rPr lang="en-GB">
                <a:ea typeface="+mn-lt"/>
                <a:cs typeface="+mn-lt"/>
              </a:rPr>
              <a:t>"We can see that there is very high inflation in the price of nickel."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77B2DF-AF44-4996-BBFD-5DF9162BE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6BECB9-A7FC-400F-8502-97A13BB87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aph with red line and blue line&#10;&#10;AI-generated content may be incorrect.">
            <a:extLst>
              <a:ext uri="{FF2B5EF4-FFF2-40B4-BE49-F238E27FC236}">
                <a16:creationId xmlns:a16="http://schemas.microsoft.com/office/drawing/2014/main" id="{6E5D0908-DC35-CB4E-E95B-10B9F7515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153" y="1247246"/>
            <a:ext cx="9507416" cy="348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391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090CE-D7DD-7E78-C609-54B115AEB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/>
              <a:t>Correlation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971A8-70F0-857A-0DE8-73CBE9EE48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err="1">
                <a:ea typeface="+mn-lt"/>
                <a:cs typeface="+mn-lt"/>
              </a:rPr>
              <a:t>corrlation</a:t>
            </a:r>
            <a:r>
              <a:rPr lang="en-GB">
                <a:ea typeface="+mn-lt"/>
                <a:cs typeface="+mn-lt"/>
              </a:rPr>
              <a:t> of gold price and gold inflation: 0.9861226023352059</a:t>
            </a:r>
            <a:endParaRPr lang="en-GB"/>
          </a:p>
          <a:p>
            <a:r>
              <a:rPr lang="en-GB" err="1">
                <a:ea typeface="+mn-lt"/>
                <a:cs typeface="+mn-lt"/>
              </a:rPr>
              <a:t>corrlation</a:t>
            </a:r>
            <a:r>
              <a:rPr lang="en-GB">
                <a:ea typeface="+mn-lt"/>
                <a:cs typeface="+mn-lt"/>
              </a:rPr>
              <a:t> of silver price and silver inflation: 0.9862195885781909</a:t>
            </a:r>
            <a:endParaRPr lang="en-GB"/>
          </a:p>
          <a:p>
            <a:r>
              <a:rPr lang="en-GB" err="1">
                <a:ea typeface="+mn-lt"/>
                <a:cs typeface="+mn-lt"/>
              </a:rPr>
              <a:t>corrlation</a:t>
            </a:r>
            <a:r>
              <a:rPr lang="en-GB">
                <a:ea typeface="+mn-lt"/>
                <a:cs typeface="+mn-lt"/>
              </a:rPr>
              <a:t> of alum price and alum inflation: 0.6238469341482332</a:t>
            </a:r>
            <a:endParaRPr lang="en-GB"/>
          </a:p>
          <a:p>
            <a:r>
              <a:rPr lang="en-GB" err="1">
                <a:ea typeface="+mn-lt"/>
                <a:cs typeface="+mn-lt"/>
              </a:rPr>
              <a:t>corrlation</a:t>
            </a:r>
            <a:r>
              <a:rPr lang="en-GB">
                <a:ea typeface="+mn-lt"/>
                <a:cs typeface="+mn-lt"/>
              </a:rPr>
              <a:t> of </a:t>
            </a:r>
            <a:r>
              <a:rPr lang="en-GB" err="1">
                <a:ea typeface="+mn-lt"/>
                <a:cs typeface="+mn-lt"/>
              </a:rPr>
              <a:t>nical</a:t>
            </a:r>
            <a:r>
              <a:rPr lang="en-GB">
                <a:ea typeface="+mn-lt"/>
                <a:cs typeface="+mn-lt"/>
              </a:rPr>
              <a:t> price and nical inflation: 0.9626151124154905</a:t>
            </a:r>
            <a:endParaRPr lang="en-GB"/>
          </a:p>
          <a:p>
            <a:r>
              <a:rPr lang="en-GB" err="1">
                <a:ea typeface="+mn-lt"/>
                <a:cs typeface="+mn-lt"/>
              </a:rPr>
              <a:t>corrlation</a:t>
            </a:r>
            <a:r>
              <a:rPr lang="en-GB">
                <a:ea typeface="+mn-lt"/>
                <a:cs typeface="+mn-lt"/>
              </a:rPr>
              <a:t> of </a:t>
            </a:r>
            <a:r>
              <a:rPr lang="en-GB" err="1">
                <a:ea typeface="+mn-lt"/>
                <a:cs typeface="+mn-lt"/>
              </a:rPr>
              <a:t>uran</a:t>
            </a:r>
            <a:r>
              <a:rPr lang="en-GB">
                <a:ea typeface="+mn-lt"/>
                <a:cs typeface="+mn-lt"/>
              </a:rPr>
              <a:t> price and </a:t>
            </a:r>
            <a:r>
              <a:rPr lang="en-GB" err="1">
                <a:ea typeface="+mn-lt"/>
                <a:cs typeface="+mn-lt"/>
              </a:rPr>
              <a:t>uran</a:t>
            </a:r>
            <a:r>
              <a:rPr lang="en-GB">
                <a:ea typeface="+mn-lt"/>
                <a:cs typeface="+mn-lt"/>
              </a:rPr>
              <a:t> inflation: 0.9844185136619086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2977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BE612-3A3B-C4B1-00C6-5558F05E3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213990"/>
          </a:xfrm>
        </p:spPr>
        <p:txBody>
          <a:bodyPr>
            <a:normAutofit fontScale="90000"/>
          </a:bodyPr>
          <a:lstStyle/>
          <a:p>
            <a:r>
              <a:rPr lang="en-GB"/>
              <a:t>.</a:t>
            </a:r>
            <a:br>
              <a:rPr lang="en-GB"/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27BDA-0BFE-7144-69F2-883CF2945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10" y="1386293"/>
            <a:ext cx="9486690" cy="4699875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GB">
                <a:ea typeface="+mn-lt"/>
                <a:cs typeface="+mn-lt"/>
              </a:rPr>
              <a:t>  </a:t>
            </a:r>
            <a:r>
              <a:rPr lang="en-GB" err="1">
                <a:ea typeface="+mn-lt"/>
                <a:cs typeface="+mn-lt"/>
              </a:rPr>
              <a:t>corrlation</a:t>
            </a:r>
            <a:r>
              <a:rPr lang="en-GB">
                <a:ea typeface="+mn-lt"/>
                <a:cs typeface="+mn-lt"/>
              </a:rPr>
              <a:t> of gold price and  inflation rate: -0.8608740496321354</a:t>
            </a:r>
            <a:endParaRPr lang="en-GB"/>
          </a:p>
          <a:p>
            <a:r>
              <a:rPr lang="en-GB" err="1">
                <a:ea typeface="+mn-lt"/>
                <a:cs typeface="+mn-lt"/>
              </a:rPr>
              <a:t>corrlation</a:t>
            </a:r>
            <a:r>
              <a:rPr lang="en-GB">
                <a:ea typeface="+mn-lt"/>
                <a:cs typeface="+mn-lt"/>
              </a:rPr>
              <a:t> of silver price and inflation rate: -0.7662151924962707</a:t>
            </a:r>
            <a:endParaRPr lang="en-GB"/>
          </a:p>
          <a:p>
            <a:r>
              <a:rPr lang="en-GB" err="1">
                <a:ea typeface="+mn-lt"/>
                <a:cs typeface="+mn-lt"/>
              </a:rPr>
              <a:t>corrlation</a:t>
            </a:r>
            <a:r>
              <a:rPr lang="en-GB">
                <a:ea typeface="+mn-lt"/>
                <a:cs typeface="+mn-lt"/>
              </a:rPr>
              <a:t> of alum price and inflation rate: -0.591238321846525</a:t>
            </a:r>
            <a:endParaRPr lang="en-GB"/>
          </a:p>
          <a:p>
            <a:r>
              <a:rPr lang="en-GB" err="1">
                <a:ea typeface="+mn-lt"/>
                <a:cs typeface="+mn-lt"/>
              </a:rPr>
              <a:t>corrlation</a:t>
            </a:r>
            <a:r>
              <a:rPr lang="en-GB">
                <a:ea typeface="+mn-lt"/>
                <a:cs typeface="+mn-lt"/>
              </a:rPr>
              <a:t> of </a:t>
            </a:r>
            <a:r>
              <a:rPr lang="en-GB" err="1">
                <a:ea typeface="+mn-lt"/>
                <a:cs typeface="+mn-lt"/>
              </a:rPr>
              <a:t>nical</a:t>
            </a:r>
            <a:r>
              <a:rPr lang="en-GB">
                <a:ea typeface="+mn-lt"/>
                <a:cs typeface="+mn-lt"/>
              </a:rPr>
              <a:t> price and inflation rate: -0.536963289752732</a:t>
            </a:r>
            <a:endParaRPr lang="en-GB"/>
          </a:p>
          <a:p>
            <a:r>
              <a:rPr lang="en-GB" err="1">
                <a:ea typeface="+mn-lt"/>
                <a:cs typeface="+mn-lt"/>
              </a:rPr>
              <a:t>corrlation</a:t>
            </a:r>
            <a:r>
              <a:rPr lang="en-GB">
                <a:ea typeface="+mn-lt"/>
                <a:cs typeface="+mn-lt"/>
              </a:rPr>
              <a:t> of </a:t>
            </a:r>
            <a:r>
              <a:rPr lang="en-GB" err="1">
                <a:ea typeface="+mn-lt"/>
                <a:cs typeface="+mn-lt"/>
              </a:rPr>
              <a:t>uran</a:t>
            </a:r>
            <a:r>
              <a:rPr lang="en-GB">
                <a:ea typeface="+mn-lt"/>
                <a:cs typeface="+mn-lt"/>
              </a:rPr>
              <a:t> price and inflation rate: -0.5354782051350482</a:t>
            </a:r>
          </a:p>
          <a:p>
            <a:r>
              <a:rPr lang="en-GB">
                <a:ea typeface="+mn-lt"/>
                <a:cs typeface="+mn-lt"/>
              </a:rPr>
              <a:t>metals have negative correlation with general inflation</a:t>
            </a:r>
            <a:endParaRPr lang="en-GB"/>
          </a:p>
          <a:p>
            <a:r>
              <a:rPr lang="en-GB">
                <a:ea typeface="+mn-lt"/>
                <a:cs typeface="+mn-lt"/>
              </a:rPr>
              <a:t>but positive correlation with their own inflation </a:t>
            </a:r>
            <a:endParaRPr lang="en-GB"/>
          </a:p>
          <a:p>
            <a:r>
              <a:rPr lang="en-GB">
                <a:ea typeface="+mn-lt"/>
                <a:cs typeface="+mn-lt"/>
              </a:rPr>
              <a:t>makes sense:</a:t>
            </a:r>
            <a:endParaRPr lang="en-GB"/>
          </a:p>
          <a:p>
            <a:r>
              <a:rPr lang="en-GB">
                <a:ea typeface="+mn-lt"/>
                <a:cs typeface="+mn-lt"/>
              </a:rPr>
              <a:t>general inflation might hurt industrial demand (negative corr)</a:t>
            </a:r>
            <a:endParaRPr lang="en-GB"/>
          </a:p>
          <a:p>
            <a:r>
              <a:rPr lang="en-GB">
                <a:ea typeface="+mn-lt"/>
                <a:cs typeface="+mn-lt"/>
              </a:rPr>
              <a:t>own inflation reflects metal-specific trends(positve corr)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54167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A5A7D-C104-F3B7-B2C0-6B985319F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811866"/>
          </a:xfrm>
        </p:spPr>
        <p:txBody>
          <a:bodyPr/>
          <a:lstStyle/>
          <a:p>
            <a:pPr algn="ctr"/>
            <a:r>
              <a:rPr lang="en-US" b="0">
                <a:ea typeface="+mj-lt"/>
                <a:cs typeface="+mj-lt"/>
              </a:rPr>
              <a:t>Coefficient of variation(CV)</a:t>
            </a:r>
            <a:endParaRPr lang="en-US"/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E89A7CED-C8A3-8285-6011-58902877269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587710" y="1280787"/>
          <a:ext cx="9486690" cy="48053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05533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8F843D-1C1B-C740-AC27-E3238D0F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B0F748-7FA7-4DDF-89A3-7F1D8EE1F7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03E872-C07A-4030-B584-D321D40CAB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3E6A84-A36B-38F5-C2F4-D24C23EB3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7321" y="5419735"/>
            <a:ext cx="9677833" cy="36656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/>
              <a:t>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6E32F0-E976-2997-9B26-A901687859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7321" y="5029461"/>
            <a:ext cx="9677834" cy="174802"/>
          </a:xfrm>
        </p:spPr>
        <p:txBody>
          <a:bodyPr>
            <a:normAutofit fontScale="25000" lnSpcReduction="20000"/>
          </a:bodyPr>
          <a:lstStyle/>
          <a:p>
            <a:pPr algn="ctr"/>
            <a:endParaRPr lang="en-US"/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3CC61C0D-D494-FC41-A945-EA7B52669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734" y="563222"/>
            <a:ext cx="9512941" cy="3923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874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36C71-BD95-22D1-91E5-F37054A65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ea typeface="+mj-lt"/>
                <a:cs typeface="+mj-lt"/>
              </a:rPr>
              <a:t>                   📌 </a:t>
            </a:r>
            <a:r>
              <a:rPr lang="en-US">
                <a:ea typeface="+mj-lt"/>
                <a:cs typeface="+mj-lt"/>
              </a:rPr>
              <a:t>Conclusion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495CA-4195-3EE0-74A7-A3DD790F4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Precious metals like gold and silver move closely together.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Nickel has the highest sales level and significant sales 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Uranium is the most volatile metal.</a:t>
            </a:r>
            <a:endParaRPr lang="en-US"/>
          </a:p>
          <a:p>
            <a:r>
              <a:rPr lang="en-US" err="1">
                <a:ea typeface="+mn-lt"/>
                <a:cs typeface="+mn-lt"/>
              </a:rPr>
              <a:t>Aluminium</a:t>
            </a:r>
            <a:r>
              <a:rPr lang="en-US">
                <a:ea typeface="+mn-lt"/>
                <a:cs typeface="+mn-lt"/>
              </a:rPr>
              <a:t> is the most stable.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Metal prices do not always move in line with general inflation.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Risk levels differ significantly across metals.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144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247FD0E-C93A-490E-9994-C79DC8977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361F51-2BEF-D295-8CD8-AF969986D2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9089" y="1247140"/>
            <a:ext cx="9512395" cy="3450844"/>
          </a:xfrm>
        </p:spPr>
        <p:txBody>
          <a:bodyPr>
            <a:normAutofit/>
          </a:bodyPr>
          <a:lstStyle/>
          <a:p>
            <a:r>
              <a:rPr lang="en-US"/>
              <a:t> </a:t>
            </a:r>
            <a:br>
              <a:rPr lang="en-US"/>
            </a:br>
            <a:r>
              <a:rPr lang="en-US" sz="8000"/>
              <a:t>     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4A1078-3CE8-A594-69B7-506B755A4C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9089" y="4818126"/>
            <a:ext cx="9512395" cy="1268984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77B2DF-AF44-4996-BBFD-5DF9162BE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58144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6BECB9-A7FC-400F-8502-97A13BB87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26850" y="1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305721"/>
      </p:ext>
    </p:extLst>
  </p:cSld>
  <p:clrMapOvr>
    <a:masterClrMapping/>
  </p:clrMapOvr>
</p:sld>
</file>

<file path=ppt/theme/theme1.xml><?xml version="1.0" encoding="utf-8"?>
<a:theme xmlns:a="http://schemas.openxmlformats.org/drawingml/2006/main" name="InterweaveVTI">
  <a:themeElements>
    <a:clrScheme name="Interweave-R1">
      <a:dk1>
        <a:srgbClr val="000000"/>
      </a:dk1>
      <a:lt1>
        <a:srgbClr val="FFFFFF"/>
      </a:lt1>
      <a:dk2>
        <a:srgbClr val="292C2D"/>
      </a:dk2>
      <a:lt2>
        <a:srgbClr val="DDDEDD"/>
      </a:lt2>
      <a:accent1>
        <a:srgbClr val="0BA5E8"/>
      </a:accent1>
      <a:accent2>
        <a:srgbClr val="5066E1"/>
      </a:accent2>
      <a:accent3>
        <a:srgbClr val="894EC0"/>
      </a:accent3>
      <a:accent4>
        <a:srgbClr val="E54196"/>
      </a:accent4>
      <a:accent5>
        <a:srgbClr val="BE4449"/>
      </a:accent5>
      <a:accent6>
        <a:srgbClr val="F55822"/>
      </a:accent6>
      <a:hlink>
        <a:srgbClr val="C22DD8"/>
      </a:hlink>
      <a:folHlink>
        <a:srgbClr val="737F82"/>
      </a:folHlink>
    </a:clrScheme>
    <a:fontScheme name="Interweave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rweaveVTI" id="{2A5AE21D-FC75-4AD0-BC12-FA563BC24905}" vid="{9A4A41B8-EB69-44BB-8E15-B517E25CF8C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InterweaveVTI</vt:lpstr>
      <vt:lpstr>Metal prices &amp; Inflation Analysis </vt:lpstr>
      <vt:lpstr>                          Introduction</vt:lpstr>
      <vt:lpstr>Inflation</vt:lpstr>
      <vt:lpstr>Month wise sales of metals so we see the sales of nickel is  highest as compare to Other metals</vt:lpstr>
      <vt:lpstr>Linear regression</vt:lpstr>
      <vt:lpstr>PowerPoint Presentation</vt:lpstr>
      <vt:lpstr>PowerPoint Presentation</vt:lpstr>
      <vt:lpstr>Correlation</vt:lpstr>
      <vt:lpstr>. </vt:lpstr>
      <vt:lpstr>Coefficient of variation(CV)</vt:lpstr>
      <vt:lpstr>.</vt:lpstr>
      <vt:lpstr>                   📌 Conclusion</vt:lpstr>
      <vt:lpstr>      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</cp:revision>
  <dcterms:created xsi:type="dcterms:W3CDTF">2026-02-16T14:41:28Z</dcterms:created>
  <dcterms:modified xsi:type="dcterms:W3CDTF">2026-07-03T10:04:09Z</dcterms:modified>
</cp:coreProperties>
</file>